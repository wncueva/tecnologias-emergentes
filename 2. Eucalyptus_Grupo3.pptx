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93" dt="2026-10-22T02:55:06.035"/>
    <p1510:client id="{80D38392-1A31-CDDE-809E-DE9429F56BBC}" v="34" dt="2026-10-22T03:28:17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2FF1A5-BD1E-495B-B5F9-27A53D93CA03}" type="datetimeFigureOut">
              <a:t>22/10/2026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D692B9-B9C5-4FA0-8CD8-887968D56197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816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 total: 15 a 20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Contar la necesidad de la orquestación en la infraestructura moderna. ~2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Eucalyptus = Elastic Utility Computing Architecture for Linking Your Programs To Useful Systems. ~2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Cloud-in-a-Box todos los componentes viven en la misma VM. ~3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~1,5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~1,5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~1,5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es en vivo, usar los snapshots 01-CentOS-listo y 02-Eucalyptus-instalado como respaldo. ~3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Mencionar los parches que tuvimos que aplicar (Cinc, EPEL, node.normal, DNS, consola).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61709"/>
            <a:ext cx="10566400" cy="447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13522"/>
            <a:ext cx="10566400" cy="4231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61709"/>
            <a:ext cx="10566400" cy="447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13522"/>
            <a:ext cx="10566400" cy="4231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hyperlink" Target="https://drive.google.com/file/d/19uCvQrVqJGAxloQ2q3yfzBhlunAiDd6r/view?usp=sharing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42137"/>
            <a:ext cx="75215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0B4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UNIVERSIDAD DE LAS FUERZAS ARMADAS – ESPE</a:t>
            </a:r>
            <a:endParaRPr lang="en-US" sz="15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086637"/>
            <a:ext cx="7521575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30"/>
              </a:lnSpc>
              <a:buNone/>
            </a:pPr>
            <a:r>
              <a:rPr lang="en-US" sz="4600" b="1" i="0" dirty="0">
                <a:solidFill>
                  <a:srgbClr val="F5F4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Eucalyptus: orquestador de nube privada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12800" y="3491177"/>
            <a:ext cx="752157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5F4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Cloud-in-a-Box sobre VMware y CentOS 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4060098"/>
            <a:ext cx="75215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B9C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Wendy Cueva · Rafael Vieira · Jorge Yugsi · Josué Zambrano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4504598"/>
            <a:ext cx="75215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B9C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Carrera: </a:t>
            </a:r>
            <a:r>
              <a:rPr lang="en-US" sz="1500" dirty="0">
                <a:solidFill>
                  <a:srgbClr val="B9C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Tecnologías Emergentes · Grupo 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4949098"/>
            <a:ext cx="75215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B9C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Octubre 2026</a:t>
            </a:r>
            <a:endParaRPr lang="en-US" sz="1500" dirty="0"/>
          </a:p>
        </p:txBody>
      </p:sp>
      <p:pic>
        <p:nvPicPr>
          <p:cNvPr id="9" name="Picture 8" descr="Universidad de... - Universidad de las Fuerzas Armadas ESPE">
            <a:extLst>
              <a:ext uri="{FF2B5EF4-FFF2-40B4-BE49-F238E27FC236}">
                <a16:creationId xmlns:a16="http://schemas.microsoft.com/office/drawing/2014/main" id="{303912DA-DBA0-5E50-8E06-CF13AC13E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2450" y="723900"/>
            <a:ext cx="1892300" cy="1823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F9E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1707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Puntos a tratar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64320"/>
            <a:ext cx="490934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F9E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4312" y="1944291"/>
            <a:ext cx="1614964" cy="363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Introducción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299200" y="1864320"/>
            <a:ext cx="490934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F9E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60712" y="1944291"/>
            <a:ext cx="2582863" cy="363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Eucalyptus?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12800" y="2590734"/>
            <a:ext cx="490934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F9E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4312" y="2670704"/>
            <a:ext cx="2305923" cy="363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clave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299200" y="2590734"/>
            <a:ext cx="490934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F9E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860712" y="2670704"/>
            <a:ext cx="3273822" cy="363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 principales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2800" y="3317148"/>
            <a:ext cx="490934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F9E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74312" y="3397118"/>
            <a:ext cx="773589" cy="363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299200" y="3317148"/>
            <a:ext cx="490934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F9E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60712" y="3397118"/>
            <a:ext cx="2845832" cy="363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Ventajas y desventajas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12800" y="4043561"/>
            <a:ext cx="490934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F9E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374312" y="4123531"/>
            <a:ext cx="3749754" cy="363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Conclusiones y trabajo futuro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299200" y="4043561"/>
            <a:ext cx="490934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F9E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60712" y="4123531"/>
            <a:ext cx="1280874" cy="363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F9E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INTRODUCCIÓN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1707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43534" y="2368550"/>
            <a:ext cx="5246370" cy="201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266" indent="-223266" algn="l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Servidores y VMs gestionados a mano no escalan</a:t>
            </a:r>
            <a:endParaRPr lang="en-US" sz="1800" dirty="0"/>
          </a:p>
          <a:p>
            <a:pPr marL="223266" indent="-223266" algn="l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Hay que crear, red, almacenar y escalar recursos</a:t>
            </a:r>
            <a:endParaRPr lang="en-US" sz="1800" dirty="0"/>
          </a:p>
          <a:p>
            <a:pPr marL="223266" indent="-223266" algn="l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Orquestar = automatizar todo sobre una API</a:t>
            </a:r>
            <a:endParaRPr lang="en-US" sz="1800" dirty="0"/>
          </a:p>
          <a:p>
            <a:pPr marL="223266" indent="-223266" algn="l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Alternativa privada y controlada a la nube pública</a:t>
            </a: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2D11F6-F244-0F43-3661-40D2C7917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560" y="1717992"/>
            <a:ext cx="5242560" cy="33000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F9E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ORQUESTADOR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1707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Eucalyptus?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43534" y="2202790"/>
            <a:ext cx="5246370" cy="2345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266" indent="-223266" algn="l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Nube privada compatible con AWS (EC2, S3, EBS, IAM)</a:t>
            </a:r>
            <a:endParaRPr lang="en-US" sz="1800" dirty="0"/>
          </a:p>
          <a:p>
            <a:pPr marL="223266" indent="-223266" algn="l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Convierte servidores en una nube de laboratorio</a:t>
            </a:r>
            <a:endParaRPr lang="en-US" sz="1800" dirty="0"/>
          </a:p>
          <a:p>
            <a:pPr marL="223266" indent="-223266" algn="l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Objetivo: IaaS propia con las mismas APIs de AWS</a:t>
            </a:r>
            <a:endParaRPr lang="en-US" sz="1800" dirty="0"/>
          </a:p>
          <a:p>
            <a:pPr marL="223266" indent="-223266" algn="l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Versión usada: 4.4.6 (FastStart)</a:t>
            </a:r>
            <a:endParaRPr lang="en-US" sz="1800" dirty="0"/>
          </a:p>
          <a:p>
            <a:pPr marL="223266" indent="-223266" algn="l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desarrollo activo: repo archivado en 2024</a:t>
            </a:r>
            <a:endParaRPr lang="en-US" sz="1800" dirty="0"/>
          </a:p>
        </p:txBody>
      </p:sp>
      <p:pic>
        <p:nvPicPr>
          <p:cNvPr id="6" name="Picture 5" descr="HP compra Eucalyptus para acelerar la adopción de la cloud híbrida - DCD">
            <a:extLst>
              <a:ext uri="{FF2B5EF4-FFF2-40B4-BE49-F238E27FC236}">
                <a16:creationId xmlns:a16="http://schemas.microsoft.com/office/drawing/2014/main" id="{1F0512AC-7A95-CB11-6220-F0EC9EE86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560" y="2205194"/>
            <a:ext cx="5679439" cy="33518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F9E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1709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Componentes clave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79134" y="2534245"/>
            <a:ext cx="5246370" cy="1682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266" indent="-223266" algn="l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CLC: cerebro de la nube y su API</a:t>
            </a:r>
            <a:endParaRPr lang="en-US" sz="1800" dirty="0"/>
          </a:p>
          <a:p>
            <a:pPr marL="223266" indent="-223266" algn="l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CC: administra un grupo de nodos y su red</a:t>
            </a:r>
            <a:endParaRPr lang="en-US" sz="1800" dirty="0"/>
          </a:p>
          <a:p>
            <a:pPr marL="223266" indent="-223266" algn="l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SC: almacenamiento en bloque (como EBS)</a:t>
            </a:r>
            <a:endParaRPr lang="en-US" sz="1800" dirty="0"/>
          </a:p>
          <a:p>
            <a:pPr marL="223266" indent="-223266" algn="l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NC: ejecuta las instancias con KVM</a:t>
            </a:r>
            <a:endParaRPr lang="en-US" sz="1800" dirty="0"/>
          </a:p>
          <a:p>
            <a:pPr marL="223266" indent="-223266" algn="l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Además: UFS, OSG (S3) y consola web</a:t>
            </a:r>
            <a:endParaRPr lang="en-US" sz="1800" dirty="0"/>
          </a:p>
        </p:txBody>
      </p:sp>
      <p:pic>
        <p:nvPicPr>
          <p:cNvPr id="6" name="Picture 5" descr="Eucalyptus Cloud Architecture | Download Scientific Diagram">
            <a:extLst>
              <a:ext uri="{FF2B5EF4-FFF2-40B4-BE49-F238E27FC236}">
                <a16:creationId xmlns:a16="http://schemas.microsoft.com/office/drawing/2014/main" id="{A4B6FCAE-43B9-463C-E187-26370FA19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2632"/>
            <a:ext cx="5638800" cy="35744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F9E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 1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1709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Compatibilidad con AWS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804414" y="1714489"/>
            <a:ext cx="5246370" cy="1351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266" indent="-223266" algn="l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EC2, S3, EBS e IAM</a:t>
            </a:r>
            <a:endParaRPr lang="en-US" sz="1800" dirty="0"/>
          </a:p>
          <a:p>
            <a:pPr marL="223266" indent="-223266" algn="l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Herramientas euca2ools sobre el puerto 8773</a:t>
            </a:r>
            <a:endParaRPr lang="en-US" sz="1800" dirty="0"/>
          </a:p>
          <a:p>
            <a:pPr marL="223266" indent="-223266" algn="l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Imágenes de máquina y tipos de instancia</a:t>
            </a:r>
            <a:endParaRPr lang="en-US" sz="1800" dirty="0"/>
          </a:p>
          <a:p>
            <a:pPr marL="223266" indent="-223266" algn="l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Migración sencilla entre nube pública y privada</a:t>
            </a: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ECABC3-A5FB-767B-6563-339107A4A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760" y="3255963"/>
            <a:ext cx="8412480" cy="33026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F9E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 2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1709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modular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43534" y="2700009"/>
            <a:ext cx="5246370" cy="1351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266" indent="-223266" algn="l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Servicios separados por función</a:t>
            </a:r>
            <a:endParaRPr lang="en-US" sz="1800" dirty="0"/>
          </a:p>
          <a:p>
            <a:pPr marL="223266" indent="-223266" algn="l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 gestiona grupos de nodos (NC)</a:t>
            </a:r>
            <a:endParaRPr lang="en-US" sz="1800" dirty="0"/>
          </a:p>
          <a:p>
            <a:pPr marL="223266" indent="-223266" algn="l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Todo-en-uno para laboratorio y pruebas</a:t>
            </a:r>
            <a:endParaRPr lang="en-US" sz="1800" dirty="0"/>
          </a:p>
          <a:p>
            <a:pPr marL="223266" indent="-223266" algn="l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puede crecer añadiendo nodos</a:t>
            </a: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DF0B3D-E76D-64E5-35D7-632EE77EB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980" y="1503680"/>
            <a:ext cx="6478280" cy="5100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F9E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 3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1709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Almacenamiento y red integrados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474974" y="1714489"/>
            <a:ext cx="5246370" cy="1351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266" indent="-223266" algn="l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Objetos (OSG) y bloques (SC)</a:t>
            </a:r>
            <a:endParaRPr lang="en-US" sz="1800" dirty="0"/>
          </a:p>
          <a:p>
            <a:pPr marL="223266" indent="-223266" algn="l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 y reglas de seguridad con eucanetd</a:t>
            </a:r>
            <a:endParaRPr lang="en-US" sz="1800" dirty="0"/>
          </a:p>
          <a:p>
            <a:pPr marL="223266" indent="-223266" algn="l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IPs públicas y privadas para instancias</a:t>
            </a:r>
            <a:endParaRPr lang="en-US" sz="1800" dirty="0"/>
          </a:p>
          <a:p>
            <a:pPr marL="223266" indent="-223266" algn="l">
              <a:lnSpc>
                <a:spcPts val="2610"/>
              </a:lnSpc>
              <a:buSzPct val="100000"/>
              <a:buChar char="•"/>
            </a:pPr>
            <a:r>
              <a:rPr lang="en-US" sz="18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Consola web para administrar todo</a:t>
            </a: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6D5B7A-3B56-A992-CB9D-F330D7346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63" y="3424238"/>
            <a:ext cx="5410835" cy="28441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0B2C6B-FEA1-0641-DACE-696F89E76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690" y="3426460"/>
            <a:ext cx="5407660" cy="2849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F9E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1709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Instalación y </a:t>
            </a:r>
            <a:r>
              <a:rPr lang="en-US" sz="3200" b="1" i="0" dirty="0" err="1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despliegue</a:t>
            </a:r>
            <a:r>
              <a:rPr lang="en-US" sz="3200" b="1" i="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video: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12800" y="6121360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Mostrar: FastStart → servicios enabled → consola web</a:t>
            </a:r>
            <a:endParaRPr lang="en-US" sz="1700" dirty="0"/>
          </a:p>
        </p:txBody>
      </p:sp>
      <p:pic>
        <p:nvPicPr>
          <p:cNvPr id="6" name="Imagen 5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F0EF3540-5257-BA78-188E-F24549BC7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18" y="1718628"/>
            <a:ext cx="4022725" cy="2049145"/>
          </a:xfrm>
          <a:prstGeom prst="rect">
            <a:avLst/>
          </a:prstGeom>
        </p:spPr>
      </p:pic>
      <p:pic>
        <p:nvPicPr>
          <p:cNvPr id="7" name="Imagen 6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11D22F37-909D-9544-DAB7-10739DD00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197" y="1554480"/>
            <a:ext cx="2590165" cy="2377440"/>
          </a:xfrm>
          <a:prstGeom prst="rect">
            <a:avLst/>
          </a:prstGeom>
        </p:spPr>
      </p:pic>
      <p:pic>
        <p:nvPicPr>
          <p:cNvPr id="8" name="Imagen 7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2BE1E32F-A92F-9481-0D5E-085C20E738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1680" y="1538605"/>
            <a:ext cx="4399280" cy="1880870"/>
          </a:xfrm>
          <a:prstGeom prst="rect">
            <a:avLst/>
          </a:prstGeom>
        </p:spPr>
      </p:pic>
      <p:pic>
        <p:nvPicPr>
          <p:cNvPr id="9" name="Imagen 8" descr="Texto&#10;&#10;El contenido generado por IA puede ser incorrecto.">
            <a:extLst>
              <a:ext uri="{FF2B5EF4-FFF2-40B4-BE49-F238E27FC236}">
                <a16:creationId xmlns:a16="http://schemas.microsoft.com/office/drawing/2014/main" id="{EF9B9D2D-EB8D-4AF4-8202-FD2C4231C9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3776028"/>
            <a:ext cx="4006850" cy="1886585"/>
          </a:xfrm>
          <a:prstGeom prst="rect">
            <a:avLst/>
          </a:prstGeom>
        </p:spPr>
      </p:pic>
      <p:pic>
        <p:nvPicPr>
          <p:cNvPr id="10" name="Imagen 9" descr="Texto&#10;&#10;El contenido generado por IA puede ser incorrecto.">
            <a:extLst>
              <a:ext uri="{FF2B5EF4-FFF2-40B4-BE49-F238E27FC236}">
                <a16:creationId xmlns:a16="http://schemas.microsoft.com/office/drawing/2014/main" id="{612D3262-4711-6C50-28F7-CF791D6C58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7705" y="3930332"/>
            <a:ext cx="3674110" cy="1872615"/>
          </a:xfrm>
          <a:prstGeom prst="rect">
            <a:avLst/>
          </a:prstGeom>
        </p:spPr>
      </p:pic>
      <p:pic>
        <p:nvPicPr>
          <p:cNvPr id="11" name="Imagen 10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1C0697DE-660B-9772-3042-6377B9161D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4512" y="3431858"/>
            <a:ext cx="3838575" cy="209740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6B91108-97C5-4E32-B8A3-5FA39756DFFC}"/>
              </a:ext>
            </a:extLst>
          </p:cNvPr>
          <p:cNvSpPr txBox="1"/>
          <p:nvPr/>
        </p:nvSpPr>
        <p:spPr>
          <a:xfrm>
            <a:off x="6901841" y="6100504"/>
            <a:ext cx="4464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linkClick r:id="rId9"/>
              </a:rPr>
              <a:t>Link demostrativo</a:t>
            </a:r>
            <a:endParaRPr lang="es-EC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F9E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 CRÍTICO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1709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Ventajas y desventajas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07390" y="2551390"/>
            <a:ext cx="5168900" cy="2135981"/>
          </a:xfrm>
          <a:prstGeom prst="roundRect">
            <a:avLst>
              <a:gd name="adj" fmla="val 4459"/>
            </a:avLst>
          </a:prstGeom>
          <a:solidFill>
            <a:srgbClr val="FFFFFF"/>
          </a:solidFill>
          <a:ln w="12700">
            <a:solidFill>
              <a:srgbClr val="D9DD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781260"/>
            <a:ext cx="4787646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F9E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Ventajas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80008" y="3248569"/>
            <a:ext cx="4728718" cy="1203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2692" indent="-202692" algn="l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Compatible con AWS</a:t>
            </a:r>
            <a:endParaRPr lang="en-US" sz="1600" dirty="0"/>
          </a:p>
          <a:p>
            <a:pPr marL="202692" indent="-202692" algn="l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abierto</a:t>
            </a:r>
            <a:endParaRPr lang="en-US" sz="1600" dirty="0"/>
          </a:p>
          <a:p>
            <a:pPr marL="202692" indent="-202692" algn="l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FastStart: instalación en 7 min 36 s</a:t>
            </a:r>
            <a:endParaRPr lang="en-US" sz="1600" dirty="0"/>
          </a:p>
          <a:p>
            <a:pPr marL="202692" indent="-202692" algn="l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Ideal para laboratorio y pruebas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75070" y="2541230"/>
            <a:ext cx="5168900" cy="2135981"/>
          </a:xfrm>
          <a:prstGeom prst="roundRect">
            <a:avLst>
              <a:gd name="adj" fmla="val 4459"/>
            </a:avLst>
          </a:prstGeom>
          <a:solidFill>
            <a:srgbClr val="FFFFFF"/>
          </a:solidFill>
          <a:ln w="12700">
            <a:solidFill>
              <a:srgbClr val="D9DD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5420" y="2801580"/>
            <a:ext cx="4787646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C039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Desventajas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6728" y="3238409"/>
            <a:ext cx="4728718" cy="1203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2692" indent="-202692" algn="l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desarrollo activo</a:t>
            </a:r>
            <a:endParaRPr lang="en-US" sz="1600" dirty="0"/>
          </a:p>
          <a:p>
            <a:pPr marL="202692" indent="-202692" algn="l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CentOS/RHEL 7 (sin soporte)</a:t>
            </a:r>
            <a:endParaRPr lang="en-US" sz="1600" dirty="0"/>
          </a:p>
          <a:p>
            <a:pPr marL="202692" indent="-202692" algn="l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Dependencias rotas: Chef, EPEL</a:t>
            </a:r>
            <a:endParaRPr lang="en-US" sz="1600" dirty="0"/>
          </a:p>
          <a:p>
            <a:pPr marL="202692" indent="-202692" algn="l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Consola con errores en Python 2.7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F9E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1709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Conclusiones y trabajo futuro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88670" y="2876510"/>
            <a:ext cx="5168900" cy="1841368"/>
          </a:xfrm>
          <a:prstGeom prst="roundRect">
            <a:avLst>
              <a:gd name="adj" fmla="val 5173"/>
            </a:avLst>
          </a:prstGeom>
          <a:solidFill>
            <a:srgbClr val="FFFFFF"/>
          </a:solidFill>
          <a:ln w="12700">
            <a:solidFill>
              <a:srgbClr val="D9DD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9020" y="3136860"/>
            <a:ext cx="4787646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F9E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00328" y="3573689"/>
            <a:ext cx="4728718" cy="909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2692" indent="-202692" algn="l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Nube privada funcionando en una VM</a:t>
            </a:r>
            <a:endParaRPr lang="en-US" sz="1600" dirty="0"/>
          </a:p>
          <a:p>
            <a:pPr marL="202692" indent="-202692" algn="l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Requirió parches por software obsoleto</a:t>
            </a:r>
            <a:endParaRPr lang="en-US" sz="1600" dirty="0"/>
          </a:p>
          <a:p>
            <a:pPr marL="202692" indent="-202692" algn="l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Snapshots evitaron reinstalar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5550" y="2866350"/>
            <a:ext cx="5168900" cy="1841368"/>
          </a:xfrm>
          <a:prstGeom prst="roundRect">
            <a:avLst>
              <a:gd name="adj" fmla="val 5173"/>
            </a:avLst>
          </a:prstGeom>
          <a:solidFill>
            <a:srgbClr val="FFFFFF"/>
          </a:solidFill>
          <a:ln w="12700">
            <a:solidFill>
              <a:srgbClr val="D9DD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900" y="3126700"/>
            <a:ext cx="4787646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F9E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Trabajo futuro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17208" y="3563529"/>
            <a:ext cx="4728718" cy="909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2692" indent="-202692" algn="l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Lanzar una instancia web</a:t>
            </a:r>
            <a:endParaRPr lang="en-US" sz="1600" dirty="0"/>
          </a:p>
          <a:p>
            <a:pPr marL="202692" indent="-202692" algn="l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Probar Eucalyptus 5</a:t>
            </a:r>
            <a:endParaRPr lang="en-US" sz="1600" dirty="0"/>
          </a:p>
          <a:p>
            <a:pPr marL="202692" indent="-202692" algn="l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220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Comparar con alternativas activas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0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2484772"/>
            <a:ext cx="10883392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5500" b="1" i="0" dirty="0">
                <a:solidFill>
                  <a:srgbClr val="F5F4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y respuestas</a:t>
            </a:r>
            <a:endParaRPr lang="en-US" sz="5500" dirty="0"/>
          </a:p>
        </p:txBody>
      </p:sp>
      <p:sp>
        <p:nvSpPr>
          <p:cNvPr id="3" name="Text 1"/>
          <p:cNvSpPr/>
          <p:nvPr/>
        </p:nvSpPr>
        <p:spPr>
          <a:xfrm>
            <a:off x="812800" y="3430922"/>
            <a:ext cx="10883392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dirty="0">
                <a:solidFill>
                  <a:srgbClr val="F0B4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¡Gracias!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4106534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B9C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Eucalyptus 4.4.6 · CentOS 7.9 · VMware Workstation Pro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ucalyptus – Orquestador de nube privada">
  <a:themeElements>
    <a:clrScheme name="Eucalyptus – Orquestador de nube privada">
      <a:dk1>
        <a:srgbClr val="12202F"/>
      </a:dk1>
      <a:lt1>
        <a:srgbClr val="F5F4EF"/>
      </a:lt1>
      <a:dk2>
        <a:srgbClr val="4B555F"/>
      </a:dk2>
      <a:lt2>
        <a:srgbClr val="DEDFDC"/>
      </a:lt2>
      <a:accent1>
        <a:srgbClr val="2F9E6F"/>
      </a:accent1>
      <a:accent2>
        <a:srgbClr val="F0B429"/>
      </a:accent2>
      <a:accent3>
        <a:srgbClr val="C0392B"/>
      </a:accent3>
      <a:accent4>
        <a:srgbClr val="4A5A52"/>
      </a:accent4>
      <a:accent5>
        <a:srgbClr val="B9C3CC"/>
      </a:accent5>
      <a:accent6>
        <a:srgbClr val="9AA0A6"/>
      </a:accent6>
      <a:hlink>
        <a:srgbClr val="0563C1"/>
      </a:hlink>
      <a:folHlink>
        <a:srgbClr val="954F72"/>
      </a:folHlink>
    </a:clrScheme>
    <a:fontScheme name="Eucalyptus – Orquestador de nube privada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532</Words>
  <Application>Microsoft Office PowerPoint</Application>
  <PresentationFormat>Panorámica</PresentationFormat>
  <Paragraphs>112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</vt:lpstr>
      <vt:lpstr>Eucalyptus – Orquestador de nube privada</vt:lpstr>
      <vt:lpstr>Eucalyptus: orquestador de nube privada</vt:lpstr>
      <vt:lpstr>Puntos a tratar</vt:lpstr>
      <vt:lpstr>El problema</vt:lpstr>
      <vt:lpstr>¿Qué es Eucalyptus?</vt:lpstr>
      <vt:lpstr>Componentes clave</vt:lpstr>
      <vt:lpstr>Compatibilidad con AWS</vt:lpstr>
      <vt:lpstr>Arquitectura modular</vt:lpstr>
      <vt:lpstr>Almacenamiento y red integrados</vt:lpstr>
      <vt:lpstr>Instalación y despliegue con video:</vt:lpstr>
      <vt:lpstr>Ventajas y desventajas</vt:lpstr>
      <vt:lpstr>Conclusiones y trabajo futuro</vt:lpstr>
      <vt:lpstr>Preguntas y respuestas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Eucalyptus – Orquestador de nube privada</dc:title>
  <dc:subject/>
  <dc:creator/>
  <cp:lastModifiedBy>wendy cueva</cp:lastModifiedBy>
  <cp:revision>66</cp:revision>
  <dcterms:created xsi:type="dcterms:W3CDTF">2026-10-22T02:30:28Z</dcterms:created>
  <dcterms:modified xsi:type="dcterms:W3CDTF">2026-10-22T20:10:38Z</dcterms:modified>
</cp:coreProperties>
</file>